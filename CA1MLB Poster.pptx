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orient="horz" pos="3298">
          <p15:clr>
            <a:srgbClr val="A4A3A4"/>
          </p15:clr>
        </p15:guide>
        <p15:guide id="8" orient="horz" pos="20735">
          <p15:clr>
            <a:srgbClr val="A4A3A4"/>
          </p15:clr>
        </p15:guide>
        <p15:guide id="9" pos="320">
          <p15:clr>
            <a:srgbClr val="A4A3A4"/>
          </p15:clr>
        </p15:guide>
        <p15:guide id="10" pos="276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434" autoAdjust="0"/>
  </p:normalViewPr>
  <p:slideViewPr>
    <p:cSldViewPr snapToGrid="0" snapToObjects="1" showGuides="1">
      <p:cViewPr varScale="1">
        <p:scale>
          <a:sx n="12" d="100"/>
          <a:sy n="12" d="100"/>
        </p:scale>
        <p:origin x="1668" y="124"/>
      </p:cViewPr>
      <p:guideLst>
        <p:guide orient="horz" pos="3318"/>
        <p:guide orient="horz" pos="288"/>
        <p:guide orient="horz" pos="20160"/>
        <p:guide orient="horz"/>
        <p:guide pos="581"/>
        <p:guide pos="27069"/>
        <p:guide orient="horz" pos="3298"/>
        <p:guide orient="horz" pos="20735"/>
        <p:guide pos="320"/>
        <p:guide pos="276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commentAuthors" Target="commentAuthor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3/31/2021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3/31/2021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76264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91425"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09578"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09576"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58541"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58541"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58541"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58541"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58541"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58541"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91425"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oleObject" Target="../embeddings/oleObject1.bin"/><Relationship Id="rId8" Type="http://schemas.openxmlformats.org/officeDocument/2006/relationships/image" Target="../media/image5.wmf"/><Relationship Id="rId9" Type="http://schemas.openxmlformats.org/officeDocument/2006/relationships/oleObject" Target="../embeddings/oleObject2.bin"/><Relationship Id="rId10" Type="http://schemas.openxmlformats.org/officeDocument/2006/relationships/image" Target="../media/image6.wmf"/><Relationship Id="rId11" Type="http://schemas.openxmlformats.org/officeDocument/2006/relationships/oleObject" Target="../embeddings/oleObject3.bin"/><Relationship Id="rId12" Type="http://schemas.openxmlformats.org/officeDocument/2006/relationships/image" Target="../media/image7.wmf"/><Relationship Id="rId13" Type="http://schemas.openxmlformats.org/officeDocument/2006/relationships/image" Target="../media/image8.png"/><Relationship Id="rId14" Type="http://schemas.openxmlformats.org/officeDocument/2006/relationships/oleObject" Target="../embeddings/oleObject4.bin"/><Relationship Id="rId15" Type="http://schemas.openxmlformats.org/officeDocument/2006/relationships/image" Target="../media/image9.wmf"/><Relationship Id="rId16" Type="http://schemas.openxmlformats.org/officeDocument/2006/relationships/hyperlink" Target="http://www.facebook.com/pages/PosterPresentationscom/217914411419?v=app_4949752878&amp;ref=ts" TargetMode="External"/><Relationship Id="rId17" Type="http://schemas.openxmlformats.org/officeDocument/2006/relationships/image" Target="../media/image10.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oleObject" Target="../embeddings/oleObject5.bin"/><Relationship Id="rId4" Type="http://schemas.openxmlformats.org/officeDocument/2006/relationships/image" Target="../media/image7.wmf"/><Relationship Id="rId5" Type="http://schemas.openxmlformats.org/officeDocument/2006/relationships/image" Target="../media/image8.png"/><Relationship Id="rId6" Type="http://schemas.openxmlformats.org/officeDocument/2006/relationships/oleObject" Target="../embeddings/oleObject6.bin"/><Relationship Id="rId7" Type="http://schemas.openxmlformats.org/officeDocument/2006/relationships/image" Target="../media/image9.wmf"/><Relationship Id="rId8" Type="http://schemas.openxmlformats.org/officeDocument/2006/relationships/hyperlink" Target="http://www.facebook.com/pages/PosterPresentationscom/217914411419?v=app_4949752878&amp;ref=ts" TargetMode="External"/><Relationship Id="rId9" Type="http://schemas.openxmlformats.org/officeDocument/2006/relationships/image" Target="../media/image10.jpeg"/><Relationship Id="rId10" Type="http://schemas.openxmlformats.org/officeDocument/2006/relationships/image" Target="../media/image1.png"/><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oleObject" Target="../embeddings/oleObject7.bin"/><Relationship Id="rId15" Type="http://schemas.openxmlformats.org/officeDocument/2006/relationships/image" Target="../media/image5.wmf"/><Relationship Id="rId16" Type="http://schemas.openxmlformats.org/officeDocument/2006/relationships/oleObject" Target="../embeddings/oleObject8.bin"/><Relationship Id="rId17" Type="http://schemas.openxmlformats.org/officeDocument/2006/relationships/image" Target="../media/image6.w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oleObject" Target="../embeddings/oleObject9.bin"/><Relationship Id="rId4" Type="http://schemas.openxmlformats.org/officeDocument/2006/relationships/image" Target="../media/image7.wmf"/><Relationship Id="rId5" Type="http://schemas.openxmlformats.org/officeDocument/2006/relationships/image" Target="../media/image8.png"/><Relationship Id="rId6" Type="http://schemas.openxmlformats.org/officeDocument/2006/relationships/oleObject" Target="../embeddings/oleObject10.bin"/><Relationship Id="rId7" Type="http://schemas.openxmlformats.org/officeDocument/2006/relationships/image" Target="../media/image9.wmf"/><Relationship Id="rId8" Type="http://schemas.openxmlformats.org/officeDocument/2006/relationships/hyperlink" Target="http://www.facebook.com/pages/PosterPresentationscom/217914411419?v=app_4949752878&amp;ref=ts" TargetMode="External"/><Relationship Id="rId9" Type="http://schemas.openxmlformats.org/officeDocument/2006/relationships/image" Target="../media/image10.jpeg"/><Relationship Id="rId10" Type="http://schemas.openxmlformats.org/officeDocument/2006/relationships/image" Target="../media/image1.png"/><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oleObject" Target="../embeddings/oleObject11.bin"/><Relationship Id="rId15" Type="http://schemas.openxmlformats.org/officeDocument/2006/relationships/image" Target="../media/image5.wmf"/><Relationship Id="rId16" Type="http://schemas.openxmlformats.org/officeDocument/2006/relationships/oleObject" Target="../embeddings/oleObject12.bin"/><Relationship Id="rId17" Type="http://schemas.openxmlformats.org/officeDocument/2006/relationships/image" Target="../media/image6.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0600"/>
            <a:ext cx="43891200" cy="4571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2" name="Rounded Rectangle 1"/>
          <p:cNvSpPr/>
          <p:nvPr userDrawn="1"/>
        </p:nvSpPr>
        <p:spPr>
          <a:xfrm>
            <a:off x="477824" y="5475145"/>
            <a:ext cx="10058400" cy="26736675"/>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439521" y="5475145"/>
            <a:ext cx="10058400" cy="26736675"/>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userDrawn="1"/>
        </p:nvSpPr>
        <p:spPr>
          <a:xfrm>
            <a:off x="22401218" y="5475145"/>
            <a:ext cx="10058400" cy="26736675"/>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33362914" y="5475145"/>
            <a:ext cx="10058400" cy="26736675"/>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0" name=""/>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0" name=""/>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0" name=""/>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0" name=""/>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60" name="TextBox 5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922338"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15154504" y="5392017"/>
            <a:ext cx="13577436" cy="26736675"/>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29386670"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50" name="TextBox 4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40"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sp>
        <p:nvSpPr>
          <p:cNvPr id="21" name="Rounded Rectangle 20"/>
          <p:cNvSpPr/>
          <p:nvPr userDrawn="1"/>
        </p:nvSpPr>
        <p:spPr>
          <a:xfrm>
            <a:off x="922338"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32918400"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583194" y="5267325"/>
            <a:ext cx="20724813" cy="26736675"/>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49" name="TextBox 48"/>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8"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91425" y="6378481"/>
            <a:ext cx="10056813" cy="5724622"/>
          </a:xfrm>
        </p:spPr>
        <p:txBody>
          <a:bodyPr/>
          <a:lstStyle/>
          <a:p>
            <a:r>
              <a:rPr lang="en-GB" sz="2400" dirty="0">
                <a:solidFill>
                  <a:schemeClr val="tx1"/>
                </a:solidFill>
                <a:latin typeface="Arial" panose="020B0604020202020204" pitchFamily="34" charset="0"/>
                <a:cs typeface="Arial" panose="020B0604020202020204" pitchFamily="34" charset="0"/>
              </a:rPr>
              <a:t>Ten years of daily Alphabet (GOOGL) prices from Yahoo Finance (2,532 rows; 2,512 days and seven engineered features after cleaning) are used for two tasks.</a:t>
            </a:r>
          </a:p>
          <a:p>
            <a:r>
              <a:rPr lang="en-GB" sz="2400" dirty="0">
                <a:solidFill>
                  <a:schemeClr val="tx1"/>
                </a:solidFill>
                <a:latin typeface="Arial" panose="020B0604020202020204" pitchFamily="34" charset="0"/>
                <a:cs typeface="Arial" panose="020B0604020202020204" pitchFamily="34" charset="0"/>
              </a:rPr>
              <a:t>K-Means and K-Medoids segment the days into Calm, Moderate and Turbulent regimes, and K-Means separates them better on both validation indices. An ARIMA model is then identified by the Box-Jenkins procedure and used to forecast 60 held-out days.</a:t>
            </a:r>
          </a:p>
        </p:txBody>
      </p:sp>
      <p:sp>
        <p:nvSpPr>
          <p:cNvPr id="3" name="Text Placeholder 2"/>
          <p:cNvSpPr>
            <a:spLocks noGrp="1"/>
          </p:cNvSpPr>
          <p:nvPr>
            <p:ph type="body" sz="quarter" idx="11"/>
          </p:nvPr>
        </p:nvSpPr>
        <p:spPr/>
        <p:txBody>
          <a:bodyPr/>
          <a:lstStyle/>
          <a:p>
            <a:r>
              <a:rPr lang="en-US" dirty="0">
                <a:solidFill>
                  <a:schemeClr val="tx2"/>
                </a:solidFill>
                <a:latin typeface="Arial" panose="020B0604020202020204" pitchFamily="34" charset="0"/>
                <a:cs typeface="Arial" panose="020B0604020202020204" pitchFamily="34" charset="0"/>
              </a:rPr>
              <a:t>ABSTRACT</a:t>
            </a:r>
          </a:p>
        </p:txBody>
      </p:sp>
      <p:sp>
        <p:nvSpPr>
          <p:cNvPr id="4" name="Text Placeholder 3"/>
          <p:cNvSpPr>
            <a:spLocks noGrp="1"/>
          </p:cNvSpPr>
          <p:nvPr>
            <p:ph type="body" sz="quarter" idx="20"/>
          </p:nvPr>
        </p:nvSpPr>
        <p:spPr>
          <a:xfrm>
            <a:off x="509578" y="18648837"/>
            <a:ext cx="10050462" cy="754045"/>
          </a:xfrm>
        </p:spPr>
        <p:txBody>
          <a:bodyPr/>
          <a:lstStyle/>
          <a:p>
            <a:r>
              <a:rPr lang="en-US" dirty="0">
                <a:solidFill>
                  <a:schemeClr val="tx2"/>
                </a:solidFill>
                <a:latin typeface="Arial" panose="020B0604020202020204" pitchFamily="34" charset="0"/>
                <a:cs typeface="Arial" panose="020B0604020202020204" pitchFamily="34" charset="0"/>
              </a:rPr>
              <a:t>PYTHON CODE AND METHOD</a:t>
            </a:r>
          </a:p>
        </p:txBody>
      </p:sp>
      <p:sp>
        <p:nvSpPr>
          <p:cNvPr id="5" name="Text Placeholder 4"/>
          <p:cNvSpPr>
            <a:spLocks noGrp="1"/>
          </p:cNvSpPr>
          <p:nvPr>
            <p:ph type="body" sz="quarter" idx="21"/>
          </p:nvPr>
        </p:nvSpPr>
        <p:spPr>
          <a:xfrm>
            <a:off x="11441111" y="6092185"/>
            <a:ext cx="10048874" cy="3046966"/>
          </a:xfrm>
        </p:spPr>
        <p:txBody>
          <a:bodyPr/>
          <a:lstStyle/>
          <a:p>
            <a:r>
              <a:rPr lang="en-GB" sz="2400" dirty="0">
                <a:solidFill>
                  <a:schemeClr val="tx1"/>
                </a:solidFill>
                <a:latin typeface="Arial" panose="020B0604020202020204" pitchFamily="34" charset="0"/>
                <a:cs typeface="Arial" panose="020B0604020202020204" pitchFamily="34" charset="0"/>
              </a:rPr>
              <a:t>Yahoo Finance, GOOGL daily OHLCV, 1 Sep 2016 to 29 Sep 2026: the permitted domain and window.</a:t>
            </a:r>
            <a:endParaRPr lang="en-US" sz="2400" dirty="0">
              <a:solidFill>
                <a:schemeClr val="tx1"/>
              </a:solidFill>
              <a:latin typeface="Arial" panose="020B0604020202020204" pitchFamily="34" charset="0"/>
              <a:cs typeface="Arial" panose="020B0604020202020204" pitchFamily="34" charset="0"/>
            </a:endParaRPr>
          </a:p>
          <a:p>
            <a:r>
              <a:rPr lang="en-GB" sz="2400" dirty="0">
                <a:solidFill>
                  <a:schemeClr val="tx1"/>
                </a:solidFill>
                <a:latin typeface="Arial" panose="020B0604020202020204" pitchFamily="34" charset="0"/>
                <a:cs typeface="Arial" panose="020B0604020202020204" pitchFamily="34" charset="0"/>
              </a:rPr>
              <a:t>Features: Return, Range_Pct, Gap_Pct, Volatility_20, Momentum_20, Volume_Ratio, Log_Volume. Adj Close is used throughout because it corrects for splits and dividends. Prices are non-stationary while returns are not, so every clustering feature is scale-free.</a:t>
            </a:r>
            <a:endParaRPr lang="en-US" sz="2400" dirty="0">
              <a:solidFill>
                <a:schemeClr val="tx1"/>
              </a:solidFill>
              <a:latin typeface="Arial" panose="020B0604020202020204" pitchFamily="34" charset="0"/>
              <a:cs typeface="Arial" panose="020B0604020202020204" pitchFamily="34" charset="0"/>
            </a:endParaRPr>
          </a:p>
        </p:txBody>
      </p:sp>
      <p:sp>
        <p:nvSpPr>
          <p:cNvPr id="6" name="Text Placeholder 5"/>
          <p:cNvSpPr>
            <a:spLocks noGrp="1"/>
          </p:cNvSpPr>
          <p:nvPr>
            <p:ph type="body" sz="quarter" idx="22"/>
          </p:nvPr>
        </p:nvSpPr>
        <p:spPr/>
        <p:txBody>
          <a:bodyPr/>
          <a:lstStyle/>
          <a:p>
            <a:r>
              <a:rPr lang="en-US" dirty="0">
                <a:solidFill>
                  <a:schemeClr val="tx2"/>
                </a:solidFill>
                <a:latin typeface="Arial" panose="020B0604020202020204" pitchFamily="34" charset="0"/>
                <a:cs typeface="Arial" panose="020B0604020202020204" pitchFamily="34" charset="0"/>
              </a:rPr>
              <a:t>DATA</a:t>
            </a:r>
          </a:p>
        </p:txBody>
      </p:sp>
      <p:sp>
        <p:nvSpPr>
          <p:cNvPr id="8" name="Text Placeholder 7"/>
          <p:cNvSpPr>
            <a:spLocks noGrp="1"/>
          </p:cNvSpPr>
          <p:nvPr>
            <p:ph type="body" sz="quarter" idx="24"/>
          </p:nvPr>
        </p:nvSpPr>
        <p:spPr/>
        <p:txBody>
          <a:bodyPr/>
          <a:lstStyle/>
          <a:p>
            <a:r>
              <a:rPr lang="en-US" dirty="0">
                <a:solidFill>
                  <a:schemeClr val="tx2"/>
                </a:solidFill>
                <a:latin typeface="Arial" panose="020B0604020202020204" pitchFamily="34" charset="0"/>
                <a:cs typeface="Arial" panose="020B0604020202020204" pitchFamily="34" charset="0"/>
              </a:rPr>
              <a:t>FINDINGS</a:t>
            </a:r>
          </a:p>
        </p:txBody>
      </p:sp>
      <p:sp>
        <p:nvSpPr>
          <p:cNvPr id="9" name="Text Placeholder 8"/>
          <p:cNvSpPr>
            <a:spLocks noGrp="1"/>
          </p:cNvSpPr>
          <p:nvPr>
            <p:ph type="body" sz="quarter" idx="25"/>
          </p:nvPr>
        </p:nvSpPr>
        <p:spPr>
          <a:xfrm>
            <a:off x="33346443" y="21931197"/>
            <a:ext cx="10047018" cy="677100"/>
          </a:xfrm>
        </p:spPr>
        <p:txBody>
          <a:bodyPr/>
          <a:lstStyle/>
          <a:p>
            <a:r>
              <a:rPr lang="en-US" sz="3200" dirty="0">
                <a:solidFill>
                  <a:schemeClr val="tx2"/>
                </a:solidFill>
                <a:latin typeface="Arial" panose="020B0604020202020204" pitchFamily="34" charset="0"/>
                <a:cs typeface="Arial" panose="020B0604020202020204" pitchFamily="34" charset="0"/>
              </a:rPr>
              <a:t>CONCLUSIONS</a:t>
            </a:r>
          </a:p>
        </p:txBody>
      </p:sp>
      <p:sp>
        <p:nvSpPr>
          <p:cNvPr id="11" name="Text Placeholder 10"/>
          <p:cNvSpPr>
            <a:spLocks noGrp="1"/>
          </p:cNvSpPr>
          <p:nvPr>
            <p:ph type="body" sz="quarter" idx="27"/>
          </p:nvPr>
        </p:nvSpPr>
        <p:spPr>
          <a:xfrm>
            <a:off x="33392567" y="28504101"/>
            <a:ext cx="10047018" cy="754045"/>
          </a:xfrm>
        </p:spPr>
        <p:txBody>
          <a:bodyPr/>
          <a:lstStyle/>
          <a:p>
            <a:r>
              <a:rPr lang="en-US" dirty="0">
                <a:solidFill>
                  <a:schemeClr val="tx2"/>
                </a:solidFill>
                <a:latin typeface="Arial" panose="020B0604020202020204" pitchFamily="34" charset="0"/>
                <a:cs typeface="Arial" panose="020B0604020202020204" pitchFamily="34" charset="0"/>
              </a:rPr>
              <a:t>REFERENCES</a:t>
            </a:r>
          </a:p>
        </p:txBody>
      </p:sp>
      <p:sp>
        <p:nvSpPr>
          <p:cNvPr id="16" name="Text Placeholder 15"/>
          <p:cNvSpPr>
            <a:spLocks noGrp="1"/>
          </p:cNvSpPr>
          <p:nvPr>
            <p:ph type="body" sz="quarter" idx="150"/>
          </p:nvPr>
        </p:nvSpPr>
        <p:spPr/>
        <p:txBody>
          <a:bodyPr>
            <a:normAutofit/>
          </a:bodyPr>
          <a:lstStyle/>
          <a:p>
            <a:r>
              <a:rPr lang="en-US" sz="4800" b="1" dirty="0">
                <a:latin typeface="Arial" panose="020B0604020202020204" pitchFamily="34" charset="0"/>
                <a:cs typeface="Arial" panose="020B0604020202020204" pitchFamily="34" charset="0"/>
              </a:rPr>
              <a:t>Zaw Moe Htike  ·  CCT College Dublin  ·  Machine Learning 2, Continuous Assessment  ·  October 2026</a:t>
            </a:r>
          </a:p>
        </p:txBody>
      </p:sp>
      <p:sp>
        <p:nvSpPr>
          <p:cNvPr id="18" name="Text Placeholder 17"/>
          <p:cNvSpPr>
            <a:spLocks noGrp="1"/>
          </p:cNvSpPr>
          <p:nvPr>
            <p:ph type="body" sz="quarter" idx="153"/>
          </p:nvPr>
        </p:nvSpPr>
        <p:spPr>
          <a:xfrm>
            <a:off x="509578" y="817503"/>
            <a:ext cx="42901013" cy="2277387"/>
          </a:xfrm>
        </p:spPr>
        <p:txBody>
          <a:bodyPr>
            <a:normAutofit fontScale="55000" lnSpcReduction="20000"/>
          </a:bodyPr>
          <a:lstStyle/>
          <a:p>
            <a:r>
              <a:rPr lang="en-US" b="1" cap="small" dirty="0">
                <a:latin typeface="Arial" panose="020B0604020202020204" pitchFamily="34" charset="0"/>
                <a:cs typeface="Arial" panose="020B0604020202020204" pitchFamily="34" charset="0"/>
              </a:rPr>
              <a:t>Market Regimes and Price Forecasting for Alphabet Inc. (GOOGL)</a:t>
            </a:r>
          </a:p>
          <a:p>
            <a:r>
              <a:rPr lang="en-US" b="1" cap="small" dirty="0">
                <a:latin typeface="Arial" panose="020B0604020202020204" pitchFamily="34" charset="0"/>
                <a:cs typeface="Arial" panose="020B0604020202020204" pitchFamily="34" charset="0"/>
              </a:rPr>
              <a:t>Unsupervised clustering (K-Means vs K-Medoids) and ARIMA on ten years of daily prices</a:t>
            </a:r>
            <a:endParaRPr lang="en-IE" b="1" cap="small" dirty="0">
              <a:latin typeface="Arial" panose="020B0604020202020204" pitchFamily="34" charset="0"/>
              <a:cs typeface="Arial" panose="020B0604020202020204" pitchFamily="34" charset="0"/>
            </a:endParaRPr>
          </a:p>
        </p:txBody>
      </p:sp>
      <p:sp>
        <p:nvSpPr>
          <p:cNvPr id="27" name="Text Placeholder 6"/>
          <p:cNvSpPr>
            <a:spLocks noGrp="1"/>
          </p:cNvSpPr>
          <p:nvPr>
            <p:ph type="body" sz="quarter" idx="23"/>
          </p:nvPr>
        </p:nvSpPr>
        <p:spPr>
          <a:xfrm>
            <a:off x="22414720" y="11807392"/>
            <a:ext cx="10048874" cy="846363"/>
          </a:xfrm>
        </p:spPr>
        <p:txBody>
          <a:bodyPr/>
          <a:lstStyle/>
          <a:p>
            <a:r>
              <a:rPr lang="en-US" i="1" u="sng" dirty="0">
                <a:latin typeface="Arial" panose="020B0604020202020204" pitchFamily="34" charset="0"/>
                <a:cs typeface="Arial" panose="020B0604020202020204" pitchFamily="34" charset="0"/>
              </a:rPr>
              <a:t>Trend, seasonality and anomalies</a:t>
            </a:r>
          </a:p>
        </p:txBody>
      </p:sp>
      <p:sp>
        <p:nvSpPr>
          <p:cNvPr id="28" name="Text Placeholder 6"/>
          <p:cNvSpPr>
            <a:spLocks noGrp="1"/>
          </p:cNvSpPr>
          <p:nvPr>
            <p:ph type="body" sz="quarter" idx="23"/>
          </p:nvPr>
        </p:nvSpPr>
        <p:spPr>
          <a:xfrm>
            <a:off x="22415504" y="6392906"/>
            <a:ext cx="10048874" cy="846363"/>
          </a:xfrm>
        </p:spPr>
        <p:txBody>
          <a:bodyPr/>
          <a:lstStyle/>
          <a:p>
            <a:r>
              <a:rPr lang="en-US" i="1" u="sng" dirty="0">
                <a:latin typeface="Arial" panose="020B0604020202020204" pitchFamily="34" charset="0"/>
                <a:cs typeface="Arial" panose="020B0604020202020204" pitchFamily="34" charset="0"/>
              </a:rPr>
              <a:t>Regimes and their similarity (Q1)</a:t>
            </a:r>
          </a:p>
        </p:txBody>
      </p:sp>
      <p:sp>
        <p:nvSpPr>
          <p:cNvPr id="29" name="Text Placeholder 6"/>
          <p:cNvSpPr>
            <a:spLocks noGrp="1"/>
          </p:cNvSpPr>
          <p:nvPr>
            <p:ph type="body" sz="quarter" idx="23"/>
          </p:nvPr>
        </p:nvSpPr>
        <p:spPr>
          <a:xfrm>
            <a:off x="22401444" y="25388262"/>
            <a:ext cx="10048874" cy="846363"/>
          </a:xfrm>
        </p:spPr>
        <p:txBody>
          <a:bodyPr/>
          <a:lstStyle/>
          <a:p>
            <a:r>
              <a:rPr lang="en-US" i="1" u="sng" dirty="0">
                <a:latin typeface="Arial" panose="020B0604020202020204" pitchFamily="34" charset="0"/>
                <a:cs typeface="Arial" panose="020B0604020202020204" pitchFamily="34" charset="0"/>
              </a:rPr>
              <a:t>Identifying ARIMA (p, d, q)</a:t>
            </a:r>
          </a:p>
        </p:txBody>
      </p:sp>
      <p:sp>
        <p:nvSpPr>
          <p:cNvPr id="30" name="Text Placeholder 6"/>
          <p:cNvSpPr>
            <a:spLocks noGrp="1"/>
          </p:cNvSpPr>
          <p:nvPr>
            <p:ph type="body" sz="quarter" idx="23"/>
          </p:nvPr>
        </p:nvSpPr>
        <p:spPr>
          <a:xfrm>
            <a:off x="33371596" y="5536712"/>
            <a:ext cx="10048874" cy="846363"/>
          </a:xfrm>
        </p:spPr>
        <p:txBody>
          <a:bodyPr/>
          <a:lstStyle/>
          <a:p>
            <a:r>
              <a:rPr lang="en-US" i="1" u="sng" dirty="0">
                <a:solidFill>
                  <a:schemeClr val="tx2"/>
                </a:solidFill>
                <a:latin typeface="Arial" panose="020B0604020202020204" pitchFamily="34" charset="0"/>
                <a:cs typeface="Arial" panose="020B0604020202020204" pitchFamily="34" charset="0"/>
              </a:rPr>
              <a:t>Choosing k (Q2)</a:t>
            </a:r>
          </a:p>
        </p:txBody>
      </p:sp>
      <p:sp>
        <p:nvSpPr>
          <p:cNvPr id="31" name="Text Placeholder 11"/>
          <p:cNvSpPr>
            <a:spLocks noGrp="1"/>
          </p:cNvSpPr>
          <p:nvPr>
            <p:ph type="body" sz="quarter" idx="28"/>
          </p:nvPr>
        </p:nvSpPr>
        <p:spPr>
          <a:xfrm>
            <a:off x="33382622" y="6056596"/>
            <a:ext cx="10052050" cy="4693570"/>
          </a:xfrm>
        </p:spPr>
        <p:txBody>
          <a:bodyPr/>
          <a:lstStyle/>
          <a:p>
            <a:r>
              <a:rPr lang="en-IE" dirty="0">
                <a:solidFill>
                  <a:schemeClr val="tx1"/>
                </a:solidFill>
                <a:latin typeface="Arial" panose="020B0604020202020204" pitchFamily="34" charset="0"/>
                <a:cs typeface="Arial" panose="020B0604020202020204" pitchFamily="34" charset="0"/>
              </a:rPr>
              <a:t>Silhouette peaks at k = 2 for both algorithms, while Davies-Bouldin is lowest at k = 10 (K-Means) and k = 6 (K-Medoids). Neither optimum is useful: k = 2 collapses the market into up and down days. k = 3 is defensible on both curves and matches the three regimes under test.</a:t>
            </a:r>
            <a:endParaRPr lang="en-US" dirty="0">
              <a:solidFill>
                <a:schemeClr val="tx1"/>
              </a:solidFill>
              <a:latin typeface="Arial" panose="020B0604020202020204" pitchFamily="34" charset="0"/>
              <a:cs typeface="Arial" panose="020B0604020202020204" pitchFamily="34" charset="0"/>
            </a:endParaRPr>
          </a:p>
        </p:txBody>
      </p:sp>
      <p:sp>
        <p:nvSpPr>
          <p:cNvPr id="32" name="Content Placeholder 2"/>
          <p:cNvSpPr txBox="1">
            <a:spLocks/>
          </p:cNvSpPr>
          <p:nvPr/>
        </p:nvSpPr>
        <p:spPr>
          <a:xfrm>
            <a:off x="718249" y="19594272"/>
            <a:ext cx="9397301" cy="979718"/>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buNone/>
            </a:pPr>
            <a:r>
              <a:rPr lang="en-GB" sz="2400" dirty="0">
                <a:latin typeface="Arial" panose="020B0604020202020204" pitchFamily="34" charset="0"/>
                <a:cs typeface="Arial" panose="020B0604020202020204" pitchFamily="34" charset="0"/>
              </a:rPr>
              <a:t>pandas cleans the three-row Yahoo header, the dates and the duplicates. Seven scale-free features are engineered, then standardised with StandardScaler. KMeans (scikit-learn) and kmedoids (pyclustering, on a 2,512 x 2,512 distance matrix) run for k = 2 to 10, scored by silhouette_score and davies_bouldin_score. statsmodels supplies adfuller, kpss, seasonal_decompose, plot_acf, plot_pacf and ARIMA. Every notebook cell is commented.</a:t>
            </a:r>
            <a:endParaRPr lang="en-IE" sz="2400" dirty="0">
              <a:latin typeface="Arial" panose="020B0604020202020204" pitchFamily="34" charset="0"/>
              <a:cs typeface="Arial" panose="020B0604020202020204" pitchFamily="34" charset="0"/>
            </a:endParaRPr>
          </a:p>
        </p:txBody>
      </p:sp>
      <p:sp>
        <p:nvSpPr>
          <p:cNvPr id="25" name="Rectangle 24"/>
          <p:cNvSpPr/>
          <p:nvPr/>
        </p:nvSpPr>
        <p:spPr>
          <a:xfrm>
            <a:off x="1543050" y="32318325"/>
            <a:ext cx="2828925" cy="43815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6" name="Content Placeholder 2"/>
          <p:cNvSpPr txBox="1">
            <a:spLocks/>
          </p:cNvSpPr>
          <p:nvPr/>
        </p:nvSpPr>
        <p:spPr>
          <a:xfrm>
            <a:off x="22534004" y="7077748"/>
            <a:ext cx="9795691" cy="5522693"/>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buNone/>
            </a:pPr>
            <a:r>
              <a:rPr lang="en-IE" sz="2500" dirty="0"/>
              <a:t>Calm 1,044 days (61.5% up), Moderate 948 days (53.6% up), Turbulent 520 days (38.1% up). The mean daily range widens from 1.4% to 2.3% to 3.5%, and the mean return turns negative (-0.51%) in Turbulent.</a:t>
            </a:r>
          </a:p>
          <a:p>
            <a:pPr marL="0" indent="0">
              <a:buNone/>
            </a:pPr>
            <a:r>
              <a:rPr lang="en-IE" sz="2500" dirty="0"/>
              <a:t>Q1: distances between the real medoid days are Calm-Moderate 2.04, Moderate-Turbulent 3.27 and Calm-Turbulent 3.58, so adjacent regimes are the most alike and the extremes are the most distinct.</a:t>
            </a:r>
          </a:p>
        </p:txBody>
      </p:sp>
      <p:sp>
        <p:nvSpPr>
          <p:cNvPr id="38" name="Text Placeholder 11"/>
          <p:cNvSpPr>
            <a:spLocks noGrp="1"/>
          </p:cNvSpPr>
          <p:nvPr>
            <p:ph type="body" sz="quarter" idx="28"/>
          </p:nvPr>
        </p:nvSpPr>
        <p:spPr>
          <a:xfrm>
            <a:off x="22407466" y="25936012"/>
            <a:ext cx="10052050" cy="6490985"/>
          </a:xfrm>
        </p:spPr>
        <p:txBody>
          <a:bodyPr/>
          <a:lstStyle/>
          <a:p>
            <a:r>
              <a:rPr lang="en-IE" dirty="0">
                <a:solidFill>
                  <a:schemeClr val="tx1"/>
                </a:solidFill>
                <a:latin typeface="Arial" panose="020B0604020202020204" pitchFamily="34" charset="0"/>
                <a:cs typeface="Arial" panose="020B0604020202020204" pitchFamily="34" charset="0"/>
              </a:rPr>
              <a:t>d: the price is non-stationary (ADF +1.079, p = 0.995; KPSS p = 0.01). After one difference ADF is -16.908 and KPSS p = 0.10, so both tests agree and d = 1. A second difference is avoided because over-differencing widens the forecast intervals.</a:t>
            </a:r>
          </a:p>
          <a:p>
            <a:r>
              <a:rPr lang="en-IE" dirty="0">
                <a:solidFill>
                  <a:schemeClr val="tx1"/>
                </a:solidFill>
                <a:latin typeface="Arial" panose="020B0604020202020204" pitchFamily="34" charset="0"/>
                <a:cs typeface="Arial" panose="020B0604020202020204" pitchFamily="34" charset="0"/>
              </a:rPr>
              <a:t>p and q: the undifferenced ACF barely decays across 40 lags. In the differenced series both ACF and PACF fall inside the confidence band after one small spike at lag 1, ambiguous between AR(1) and MA(1).</a:t>
            </a:r>
          </a:p>
          <a:p>
            <a:r>
              <a:rPr lang="en-IE" dirty="0">
                <a:solidFill>
                  <a:schemeClr val="tx1"/>
                </a:solidFill>
                <a:latin typeface="Arial" panose="020B0604020202020204" pitchFamily="34" charset="0"/>
                <a:cs typeface="Arial" panose="020B0604020202020204" pitchFamily="34" charset="0"/>
              </a:rPr>
              <a:t>Because the plots cannot decide, AIC does (Akaike, 1974). A grid search over the shortlist gives ARIMA(1,1,0) the lowest AIC (-12,582.7).</a:t>
            </a:r>
          </a:p>
        </p:txBody>
      </p:sp>
      <p:sp>
        <p:nvSpPr>
          <p:cNvPr id="40" name="Text Placeholder 3"/>
          <p:cNvSpPr>
            <a:spLocks noGrp="1"/>
          </p:cNvSpPr>
          <p:nvPr>
            <p:ph type="body" sz="quarter" idx="20"/>
          </p:nvPr>
        </p:nvSpPr>
        <p:spPr>
          <a:xfrm>
            <a:off x="521484" y="12794208"/>
            <a:ext cx="10026754" cy="754045"/>
          </a:xfrm>
        </p:spPr>
        <p:txBody>
          <a:bodyPr/>
          <a:lstStyle/>
          <a:p>
            <a:r>
              <a:rPr lang="en-US" dirty="0">
                <a:solidFill>
                  <a:schemeClr val="tx2"/>
                </a:solidFill>
                <a:latin typeface="Arial" panose="020B0604020202020204" pitchFamily="34" charset="0"/>
                <a:cs typeface="Arial" panose="020B0604020202020204" pitchFamily="34" charset="0"/>
              </a:rPr>
              <a:t>RESEARCH QUESTIONS</a:t>
            </a:r>
          </a:p>
        </p:txBody>
      </p:sp>
      <p:sp>
        <p:nvSpPr>
          <p:cNvPr id="41" name="Content Placeholder 2"/>
          <p:cNvSpPr txBox="1">
            <a:spLocks/>
          </p:cNvSpPr>
          <p:nvPr/>
        </p:nvSpPr>
        <p:spPr>
          <a:xfrm>
            <a:off x="578634" y="13812808"/>
            <a:ext cx="9736942" cy="5276211"/>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Q1. How can similarity and dissimilarity between the discovered regimes be measured?</a:t>
            </a:r>
            <a:endParaRPr lang="en-IE" sz="2400" b="1" dirty="0">
              <a:latin typeface="Arial" panose="020B0604020202020204" pitchFamily="34" charset="0"/>
              <a:cs typeface="Arial" panose="020B0604020202020204" pitchFamily="34" charset="0"/>
            </a:endParaRPr>
          </a:p>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Q2. Which clustering solution is preferable, and on what evidence?</a:t>
            </a:r>
            <a:endParaRPr lang="en-IE" sz="2400" b="1" dirty="0">
              <a:latin typeface="Arial" panose="020B0604020202020204" pitchFamily="34" charset="0"/>
              <a:cs typeface="Arial" panose="020B0604020202020204" pitchFamily="34" charset="0"/>
            </a:endParaRPr>
          </a:p>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Q3. How are the ARIMA parameters (p, d, q) determined, and what are the strengths and limits of the forecast?</a:t>
            </a:r>
            <a:endParaRPr lang="en-IE" sz="2400" b="1" dirty="0">
              <a:latin typeface="Arial" panose="020B0604020202020204" pitchFamily="34" charset="0"/>
              <a:cs typeface="Arial" panose="020B0604020202020204" pitchFamily="34" charset="0"/>
            </a:endParaRPr>
          </a:p>
        </p:txBody>
      </p:sp>
      <p:sp>
        <p:nvSpPr>
          <p:cNvPr id="42" name="Content Placeholder 2"/>
          <p:cNvSpPr txBox="1">
            <a:spLocks/>
          </p:cNvSpPr>
          <p:nvPr/>
        </p:nvSpPr>
        <p:spPr>
          <a:xfrm>
            <a:off x="33513137" y="22823005"/>
            <a:ext cx="9736942" cy="5408649"/>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Q2: K-Means is preferred, being better on both indices. Silhouette judges how well each day fits its own cluster, Davies-Bouldin judges whole clusters; two different measures agreeing makes the choice safe. Both values are modest, so the regimes genuinely overlap.</a:t>
            </a:r>
          </a:p>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Q3: the Box-Jenkins steps are transparent and reproducible, and ADF and KPSS agree on d = 1. The static forecast drifts up from 366.22 to 386.29 with a widening 95% interval, while the chart shows the actual price ending below it.</a:t>
            </a:r>
          </a:p>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Limitations: the model was selected on AIC, which measures fit rather than forecast skill; no out-of-sample error was calculated, so no accuracy claim is made. One stock, one window, one static forecast path.</a:t>
            </a:r>
          </a:p>
        </p:txBody>
      </p:sp>
      <p:graphicFrame>
        <p:nvGraphicFramePr>
          <p:cNvPr id="37" name="Table 36"/>
          <p:cNvGraphicFramePr>
            <a:graphicFrameLocks noGrp="1"/>
          </p:cNvGraphicFramePr>
          <p:nvPr>
            <p:extLst>
              <p:ext uri="{D42A27DB-BD31-4B8C-83A1-F6EECF244321}">
                <p14:modId xmlns:p14="http://schemas.microsoft.com/office/powerpoint/2010/main" val="3349645228"/>
              </p:ext>
            </p:extLst>
          </p:nvPr>
        </p:nvGraphicFramePr>
        <p:xfrm>
          <a:off x="11653912" y="26870112"/>
          <a:ext cx="9742489" cy="5042448"/>
        </p:xfrm>
        <a:graphic>
          <a:graphicData uri="http://schemas.openxmlformats.org/drawingml/2006/table">
            <a:tbl>
              <a:tblPr firstRow="1" firstCol="1" bandRow="1">
                <a:tableStyleId>{5C22544A-7EE6-4342-B048-85BDC9FD1C3A}</a:tableStyleId>
              </a:tblPr>
              <a:tblGrid>
                <a:gridCol w="731407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980619">
                  <a:extLst>
                    <a:ext uri="{9D8B030D-6E8A-4147-A177-3AD203B41FA5}">
                      <a16:colId xmlns:a16="http://schemas.microsoft.com/office/drawing/2014/main" val="20002"/>
                    </a:ext>
                  </a:extLst>
                </a:gridCol>
              </a:tblGrid>
              <a:tr h="398339">
                <a:tc>
                  <a:txBody>
                    <a:bodyPr/>
                    <a:lstStyle/>
                    <a:p>
                      <a:pPr>
                        <a:spcAft>
                          <a:spcPts val="0"/>
                        </a:spcAft>
                      </a:pPr>
                      <a:r>
                        <a:rPr lang="en-IE" sz="1800" dirty="0">
                          <a:solidFill>
                            <a:schemeClr val="tx1"/>
                          </a:solidFill>
                          <a:effectLst/>
                          <a:latin typeface="Arial" panose="020B0604020202020204" pitchFamily="34" charset="0"/>
                          <a:ea typeface="Times New Roman"/>
                          <a:cs typeface="Arial" panose="020B0604020202020204" pitchFamily="34" charset="0"/>
                        </a:rPr>
                        <a:t>Measure at k = 3</a:t>
                      </a:r>
                      <a:endParaRPr lang="en-IE" sz="180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accent1"/>
                    </a:solidFill>
                  </a:tcPr>
                </a:tc>
                <a:tc>
                  <a:txBody>
                    <a:bodyPr/>
                    <a:lstStyle/>
                    <a:p>
                      <a:pPr>
                        <a:spcAft>
                          <a:spcPts val="0"/>
                        </a:spcAft>
                      </a:pPr>
                      <a:r>
                        <a:rPr lang="en-GB" sz="1800" b="1" dirty="0">
                          <a:solidFill>
                            <a:schemeClr val="bg1"/>
                          </a:solidFill>
                          <a:effectLst/>
                        </a:rPr>
                        <a:t>K-Means</a:t>
                      </a:r>
                      <a:endParaRPr lang="en-IE" sz="1800" b="1" dirty="0">
                        <a:solidFill>
                          <a:schemeClr val="bg1"/>
                        </a:solidFill>
                        <a:effectLst/>
                        <a:latin typeface="Times New Roman"/>
                        <a:ea typeface="Times New Roman"/>
                        <a:cs typeface="Times New Roman"/>
                      </a:endParaRPr>
                    </a:p>
                  </a:txBody>
                  <a:tcPr marL="68580" marR="68580" marT="0" marB="0" anchor="ctr">
                    <a:solidFill>
                      <a:schemeClr val="accent1"/>
                    </a:solidFill>
                  </a:tcPr>
                </a:tc>
                <a:tc>
                  <a:txBody>
                    <a:bodyPr/>
                    <a:lstStyle/>
                    <a:p>
                      <a:pPr>
                        <a:spcAft>
                          <a:spcPts val="0"/>
                        </a:spcAft>
                      </a:pPr>
                      <a:r>
                        <a:rPr lang="en-GB" sz="1800" b="1" dirty="0">
                          <a:solidFill>
                            <a:schemeClr val="bg1"/>
                          </a:solidFill>
                          <a:effectLst/>
                        </a:rPr>
                        <a:t>K-Medoids</a:t>
                      </a:r>
                      <a:endParaRPr lang="en-IE" sz="1800" b="1" dirty="0">
                        <a:solidFill>
                          <a:schemeClr val="bg1"/>
                        </a:solidFill>
                        <a:effectLst/>
                        <a:latin typeface="Times New Roman"/>
                        <a:ea typeface="Times New Roman"/>
                        <a:cs typeface="Times New Roman"/>
                      </a:endParaRPr>
                    </a:p>
                  </a:txBody>
                  <a:tcPr marL="68580" marR="68580" marT="0" marB="0" anchor="ctr">
                    <a:solidFill>
                      <a:schemeClr val="accent1"/>
                    </a:solidFill>
                  </a:tcPr>
                </a:tc>
                <a:extLst>
                  <a:ext uri="{0D108BD9-81ED-4DB2-BD59-A6C34878D82A}">
                    <a16:rowId xmlns:a16="http://schemas.microsoft.com/office/drawing/2014/main" val="10001"/>
                  </a:ext>
                </a:extLst>
              </a:tr>
              <a:tr h="288187">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Silhouette (higher is better)</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0.330</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0.148</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10002"/>
                  </a:ext>
                </a:extLst>
              </a:tr>
              <a:tr h="288187">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Davies-Bouldin (lower is better)</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1.476</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1.881</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10002"/>
                  </a:ext>
                </a:extLst>
              </a:tr>
              <a:tr h="288187">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Best k by silhouette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2</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2</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10002"/>
                  </a:ext>
                </a:extLst>
              </a:tr>
              <a:tr h="288187">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Best k by Davies-Bouldin</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10</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6</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10002"/>
                  </a:ext>
                </a:extLst>
              </a:tr>
            </a:tbl>
          </a:graphicData>
        </a:graphic>
      </p:graphicFrame>
      <p:sp>
        <p:nvSpPr>
          <p:cNvPr id="45" name="Text Placeholder 4"/>
          <p:cNvSpPr>
            <a:spLocks noGrp="1"/>
          </p:cNvSpPr>
          <p:nvPr>
            <p:ph type="body" sz="quarter" idx="21"/>
          </p:nvPr>
        </p:nvSpPr>
        <p:spPr>
          <a:xfrm>
            <a:off x="11459293" y="25496880"/>
            <a:ext cx="10048874" cy="846363"/>
          </a:xfrm>
        </p:spPr>
        <p:txBody>
          <a:bodyPr/>
          <a:lstStyle/>
          <a:p>
            <a:r>
              <a:rPr lang="en-US" b="1" i="1" u="sng" dirty="0">
                <a:solidFill>
                  <a:schemeClr val="tx2"/>
                </a:solidFill>
                <a:latin typeface="Arial" panose="020B0604020202020204" pitchFamily="34" charset="0"/>
                <a:cs typeface="Arial" panose="020B0604020202020204" pitchFamily="34" charset="0"/>
              </a:rPr>
              <a:t>CLUSTER VALIDATION</a:t>
            </a:r>
          </a:p>
        </p:txBody>
      </p:sp>
      <p:sp>
        <p:nvSpPr>
          <p:cNvPr id="39" name="Content Placeholder 2">
            <a:extLst>
              <a:ext uri="{FF2B5EF4-FFF2-40B4-BE49-F238E27FC236}">
                <a16:creationId xmlns:a16="http://schemas.microsoft.com/office/drawing/2014/main" id="{2EFFBC5F-0C09-40DB-9DFE-B704854ECCA6}"/>
              </a:ext>
            </a:extLst>
          </p:cNvPr>
          <p:cNvSpPr txBox="1">
            <a:spLocks/>
          </p:cNvSpPr>
          <p:nvPr/>
        </p:nvSpPr>
        <p:spPr>
          <a:xfrm>
            <a:off x="11693941" y="8028377"/>
            <a:ext cx="9662432" cy="979718"/>
          </a:xfrm>
          <a:prstGeom prst="rect">
            <a:avLst/>
          </a:prstGeom>
        </p:spPr>
        <p:txBody>
          <a:bodyPr>
            <a:normAutofit fontScale="70000" lnSpcReduction="20000"/>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a:buNone/>
            </a:pPr>
            <a:endParaRPr lang="en-IE" sz="9600" dirty="0">
              <a:latin typeface="Arial" panose="020B0604020202020204" pitchFamily="34" charset="0"/>
              <a:cs typeface="Arial" panose="020B0604020202020204" pitchFamily="34" charset="0"/>
            </a:endParaRPr>
          </a:p>
        </p:txBody>
      </p:sp>
      <p:sp>
        <p:nvSpPr>
          <p:cNvPr id="34" name="Text Placeholder 4"/>
          <p:cNvSpPr>
            <a:spLocks noGrp="1"/>
          </p:cNvSpPr>
          <p:nvPr>
            <p:ph type="body" sz="quarter" idx="21"/>
          </p:nvPr>
        </p:nvSpPr>
        <p:spPr>
          <a:xfrm>
            <a:off x="11453400" y="17075571"/>
            <a:ext cx="10048874" cy="846363"/>
          </a:xfrm>
        </p:spPr>
        <p:txBody>
          <a:bodyPr/>
          <a:lstStyle/>
          <a:p>
            <a:r>
              <a:rPr lang="en-US" b="1" i="1" u="sng" dirty="0">
                <a:solidFill>
                  <a:schemeClr val="tx2"/>
                </a:solidFill>
                <a:latin typeface="Arial" panose="020B0604020202020204" pitchFamily="34" charset="0"/>
                <a:cs typeface="Arial" panose="020B0604020202020204" pitchFamily="34" charset="0"/>
              </a:rPr>
              <a:t>CLUSTERING</a:t>
            </a:r>
          </a:p>
        </p:txBody>
      </p:sp>
      <p:sp>
        <p:nvSpPr>
          <p:cNvPr id="35" name="Text Placeholder 4">
            <a:extLst>
              <a:ext uri="{FF2B5EF4-FFF2-40B4-BE49-F238E27FC236}">
                <a16:creationId xmlns:a16="http://schemas.microsoft.com/office/drawing/2014/main" id="{9000B3FD-55D3-45AB-92CB-10A741BAA0B3}"/>
              </a:ext>
            </a:extLst>
          </p:cNvPr>
          <p:cNvSpPr txBox="1">
            <a:spLocks/>
          </p:cNvSpPr>
          <p:nvPr/>
        </p:nvSpPr>
        <p:spPr>
          <a:xfrm>
            <a:off x="11449319" y="17642446"/>
            <a:ext cx="10048874" cy="1200306"/>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GB" sz="2400" dirty="0">
                <a:solidFill>
                  <a:schemeClr val="tx1"/>
                </a:solidFill>
                <a:latin typeface="Arial" panose="020B0604020202020204" pitchFamily="34" charset="0"/>
                <a:cs typeface="Arial" panose="020B0604020202020204" pitchFamily="34" charset="0"/>
              </a:rPr>
              <a:t>K-Means centres a cluster on an average; K-Medoids centres it on a real trading day. Both run on the same standardised data, so the comparison isolates that single decision.</a:t>
            </a:r>
            <a:endParaRPr lang="en-US" sz="2400" dirty="0">
              <a:solidFill>
                <a:schemeClr val="tx1"/>
              </a:solidFill>
              <a:latin typeface="Arial" panose="020B0604020202020204" pitchFamily="34" charset="0"/>
              <a:cs typeface="Arial" panose="020B0604020202020204" pitchFamily="34" charset="0"/>
            </a:endParaRPr>
          </a:p>
        </p:txBody>
      </p:sp>
      <p:sp>
        <p:nvSpPr>
          <p:cNvPr id="43" name="Text Placeholder 4">
            <a:extLst>
              <a:ext uri="{FF2B5EF4-FFF2-40B4-BE49-F238E27FC236}">
                <a16:creationId xmlns:a16="http://schemas.microsoft.com/office/drawing/2014/main" id="{D01E89C6-0794-4157-9DEF-383030D60FAB}"/>
              </a:ext>
            </a:extLst>
          </p:cNvPr>
          <p:cNvSpPr txBox="1">
            <a:spLocks/>
          </p:cNvSpPr>
          <p:nvPr/>
        </p:nvSpPr>
        <p:spPr>
          <a:xfrm>
            <a:off x="11447321" y="26027104"/>
            <a:ext cx="10048874" cy="830975"/>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GB" sz="2400" dirty="0">
                <a:solidFill>
                  <a:schemeClr val="tx1"/>
                </a:solidFill>
                <a:latin typeface="Arial" panose="020B0604020202020204" pitchFamily="34" charset="0"/>
                <a:cs typeface="Arial" panose="020B0604020202020204" pitchFamily="34" charset="0"/>
              </a:rPr>
              <a:t>K-Means leads on both indices at k = 3.</a:t>
            </a:r>
            <a:endParaRPr lang="en-US" sz="2400" dirty="0">
              <a:solidFill>
                <a:schemeClr val="tx1"/>
              </a:solidFill>
              <a:latin typeface="Arial" panose="020B0604020202020204" pitchFamily="34" charset="0"/>
              <a:cs typeface="Arial" panose="020B0604020202020204" pitchFamily="34" charset="0"/>
            </a:endParaRPr>
          </a:p>
        </p:txBody>
      </p:sp>
      <p:sp>
        <p:nvSpPr>
          <p:cNvPr id="46" name="Content Placeholder 2">
            <a:extLst>
              <a:ext uri="{FF2B5EF4-FFF2-40B4-BE49-F238E27FC236}">
                <a16:creationId xmlns:a16="http://schemas.microsoft.com/office/drawing/2014/main" id="{BA7BC14E-5C68-4BFC-B8B8-A1CD9BF3BFC9}"/>
              </a:ext>
            </a:extLst>
          </p:cNvPr>
          <p:cNvSpPr txBox="1">
            <a:spLocks/>
          </p:cNvSpPr>
          <p:nvPr/>
        </p:nvSpPr>
        <p:spPr>
          <a:xfrm>
            <a:off x="22531031" y="12554206"/>
            <a:ext cx="9795691" cy="5522693"/>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buNone/>
            </a:pPr>
            <a:r>
              <a:rPr lang="en-IE" sz="2500" dirty="0"/>
              <a:t>Trend: GOOGL grew 23.96% a year, so the series cannot be stationary and d will be at least 1.</a:t>
            </a:r>
          </a:p>
          <a:p>
            <a:pPr marL="0" indent="0">
              <a:buNone/>
            </a:pPr>
            <a:r>
              <a:rPr lang="en-IE" sz="2500" dirty="0"/>
              <a:t>Seasonality: weak and not useful; the monthly decomposition is dominated by trend.</a:t>
            </a:r>
          </a:p>
          <a:p>
            <a:pPr marL="0" indent="0">
              <a:buNone/>
            </a:pPr>
            <a:r>
              <a:rPr lang="en-IE" sz="2500" dirty="0"/>
              <a:t>Anomalies: 36 days (1.4%) are news days, not calendar days. The largest group is 2020 (the COVID crash; 16 March 2020 fell 11.63%), and many others fall on Alphabet results dates, such as 26 April 2024 (+10.22%).</a:t>
            </a:r>
          </a:p>
        </p:txBody>
      </p:sp>
      <p:sp>
        <p:nvSpPr>
          <p:cNvPr id="47" name="Content Placeholder 2">
            <a:extLst>
              <a:ext uri="{FF2B5EF4-FFF2-40B4-BE49-F238E27FC236}">
                <a16:creationId xmlns:a16="http://schemas.microsoft.com/office/drawing/2014/main" id="{C12A8FE5-E10F-498E-9E7D-EC629905A877}"/>
              </a:ext>
            </a:extLst>
          </p:cNvPr>
          <p:cNvSpPr txBox="1">
            <a:spLocks/>
          </p:cNvSpPr>
          <p:nvPr/>
        </p:nvSpPr>
        <p:spPr>
          <a:xfrm>
            <a:off x="33656519" y="29479722"/>
            <a:ext cx="9736942" cy="2621175"/>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None/>
            </a:pPr>
            <a:r>
              <a:rPr lang="en-IE" sz="900" dirty="0">
                <a:latin typeface="Arial" panose="020B0604020202020204" pitchFamily="34" charset="0"/>
                <a:cs typeface="Arial" panose="020B0604020202020204" pitchFamily="34" charset="0"/>
              </a:rPr>
              <a:t>Akaike, H. (1974) 'A new look at the statistical model identification', IEEE Transactions on Automatic Control, 19(6), pp. 716-723.</a:t>
            </a:r>
          </a:p>
          <a:p>
            <a:pPr marL="0" indent="0" algn="just" defTabSz="895350">
              <a:buNone/>
            </a:pPr>
            <a:r>
              <a:rPr lang="en-IE" sz="900" dirty="0">
                <a:latin typeface="Arial" panose="020B0604020202020204" pitchFamily="34" charset="0"/>
                <a:cs typeface="Arial" panose="020B0604020202020204" pitchFamily="34" charset="0"/>
              </a:rPr>
              <a:t>Box, G.E.P., Jenkins, G.M., Reinsel, G.C. and Ljung, G.M. (2015) Time Series Analysis: Forecasting and Control. 5th edn. Hoboken, NJ: John Wiley &amp; Sons.</a:t>
            </a:r>
          </a:p>
          <a:p>
            <a:pPr marL="0" indent="0" algn="just" defTabSz="895350">
              <a:buNone/>
            </a:pPr>
            <a:r>
              <a:rPr lang="en-IE" sz="900" dirty="0">
                <a:latin typeface="Arial" panose="020B0604020202020204" pitchFamily="34" charset="0"/>
                <a:cs typeface="Arial" panose="020B0604020202020204" pitchFamily="34" charset="0"/>
              </a:rPr>
              <a:t>Davies, D.L. and Bouldin, D.W. (1979) 'A cluster separation measure', IEEE Transactions on Pattern Analysis and Machine Intelligence, PAMI-1(2), pp. 224-227.</a:t>
            </a:r>
          </a:p>
          <a:p>
            <a:pPr marL="0" indent="0" algn="just" defTabSz="895350">
              <a:buNone/>
            </a:pPr>
            <a:r>
              <a:rPr lang="en-IE" sz="900" dirty="0">
                <a:latin typeface="Arial" panose="020B0604020202020204" pitchFamily="34" charset="0"/>
                <a:cs typeface="Arial" panose="020B0604020202020204" pitchFamily="34" charset="0"/>
              </a:rPr>
              <a:t>Dickey, D.A. and Fuller, W.A. (1979) 'Distribution of the estimators for autoregressive time series with a unit root', Journal of the American Statistical Association, 74(366), pp. 427-431.</a:t>
            </a:r>
          </a:p>
          <a:p>
            <a:pPr marL="0" indent="0" algn="just" defTabSz="895350">
              <a:buNone/>
            </a:pPr>
            <a:r>
              <a:rPr lang="en-IE" sz="900" dirty="0">
                <a:latin typeface="Arial" panose="020B0604020202020204" pitchFamily="34" charset="0"/>
                <a:cs typeface="Arial" panose="020B0604020202020204" pitchFamily="34" charset="0"/>
              </a:rPr>
              <a:t>Kaufman, L. and Rousseeuw, P.J. (1990) Finding Groups in Data: An Introduction to Cluster Analysis. Hoboken, NJ: John Wiley &amp; Sons.</a:t>
            </a:r>
          </a:p>
          <a:p>
            <a:pPr marL="0" indent="0" algn="just" defTabSz="895350">
              <a:buNone/>
            </a:pPr>
            <a:r>
              <a:rPr lang="en-IE" sz="900" dirty="0">
                <a:latin typeface="Arial" panose="020B0604020202020204" pitchFamily="34" charset="0"/>
                <a:cs typeface="Arial" panose="020B0604020202020204" pitchFamily="34" charset="0"/>
              </a:rPr>
              <a:t>Kwiatkowski, D., Phillips, P.C.B., Schmidt, P. and Shin, Y. (1992) 'Testing the null hypothesis of stationarity against the alternative of a unit root', Journal of Econometrics, 54(1-3), pp. 159-178.</a:t>
            </a:r>
          </a:p>
          <a:p>
            <a:pPr marL="0" indent="0" algn="just" defTabSz="895350">
              <a:buNone/>
            </a:pPr>
            <a:r>
              <a:rPr lang="en-IE" sz="900" dirty="0">
                <a:latin typeface="Arial" panose="020B0604020202020204" pitchFamily="34" charset="0"/>
                <a:cs typeface="Arial" panose="020B0604020202020204" pitchFamily="34" charset="0"/>
              </a:rPr>
              <a:t>Novikov, A.V. (2019) 'PyClustering: data mining library', Journal of Open Source Software, 4(36), p. 1230.</a:t>
            </a:r>
          </a:p>
          <a:p>
            <a:pPr marL="0" indent="0" algn="just" defTabSz="895350">
              <a:buNone/>
            </a:pPr>
            <a:r>
              <a:rPr lang="en-IE" sz="900" dirty="0">
                <a:latin typeface="Arial" panose="020B0604020202020204" pitchFamily="34" charset="0"/>
                <a:cs typeface="Arial" panose="020B0604020202020204" pitchFamily="34" charset="0"/>
              </a:rPr>
              <a:t>Pedregosa, F. et al. (2011) 'Scikit-learn: machine learning in Python', Journal of Machine Learning Research, 12, pp. 2825-2830.</a:t>
            </a:r>
          </a:p>
          <a:p>
            <a:pPr marL="0" indent="0" algn="just" defTabSz="895350">
              <a:buNone/>
            </a:pPr>
            <a:r>
              <a:rPr lang="en-IE" sz="900" dirty="0">
                <a:latin typeface="Arial" panose="020B0604020202020204" pitchFamily="34" charset="0"/>
                <a:cs typeface="Arial" panose="020B0604020202020204" pitchFamily="34" charset="0"/>
              </a:rPr>
              <a:t>Rousseeuw, P.J. (1987) 'Silhouettes: a graphical aid to the interpretation and validation of cluster analysis', Journal of Computational and Applied Mathematics, 20, pp. 53-65.</a:t>
            </a:r>
          </a:p>
          <a:p>
            <a:pPr marL="0" indent="0" algn="just" defTabSz="895350">
              <a:buNone/>
            </a:pPr>
            <a:r>
              <a:rPr lang="en-IE" sz="900" dirty="0">
                <a:latin typeface="Arial" panose="020B0604020202020204" pitchFamily="34" charset="0"/>
                <a:cs typeface="Arial" panose="020B0604020202020204" pitchFamily="34" charset="0"/>
              </a:rPr>
              <a:t>Seabold, S. and Perktold, J. (2010) 'Statsmodels: econometric and statistical modeling with Python', Proceedings of the 9th Python in Science Conference. Austin, TX, pp. 92-96.</a:t>
            </a:r>
          </a:p>
          <a:p>
            <a:pPr marL="0" indent="0" algn="just" defTabSz="895350">
              <a:buNone/>
            </a:pPr>
            <a:r>
              <a:rPr lang="en-IE" sz="900" dirty="0">
                <a:latin typeface="Arial" panose="020B0604020202020204" pitchFamily="34" charset="0"/>
                <a:cs typeface="Arial" panose="020B0604020202020204" pitchFamily="34" charset="0"/>
              </a:rPr>
              <a:t>Yahoo Finance (2026) Alphabet Inc. (GOOGL) historical data. Available at: https://finance.yahoo.com/quote/GOOGL/history/ (Accessed: 28 October 2026).</a:t>
            </a:r>
          </a:p>
        </p:txBody>
      </p:sp>
      <p:pic>
        <p:nvPicPr>
          <p:cNvPr id="4101" name="Picture 4100" descr="11_arima_static_forecast.png"/>
          <p:cNvPicPr>
            <a:picLocks noChangeAspect="1"/>
          </p:cNvPicPr>
          <p:nvPr/>
        </p:nvPicPr>
        <p:blipFill>
          <a:blip r:embed="rId5"/>
          <a:stretch>
            <a:fillRect/>
          </a:stretch>
        </p:blipFill>
        <p:spPr>
          <a:xfrm>
            <a:off x="918274" y="23540279"/>
            <a:ext cx="9197276" cy="3850022"/>
          </a:xfrm>
          <a:prstGeom prst="rect">
            <a:avLst/>
          </a:prstGeom>
        </p:spPr>
      </p:pic>
      <p:pic>
        <p:nvPicPr>
          <p:cNvPr id="4102" name="Picture 4101" descr="01_price_moving_averages_volatility_volume.png"/>
          <p:cNvPicPr>
            <a:picLocks noChangeAspect="1"/>
          </p:cNvPicPr>
          <p:nvPr/>
        </p:nvPicPr>
        <p:blipFill>
          <a:blip r:embed="rId4"/>
          <a:stretch>
            <a:fillRect/>
          </a:stretch>
        </p:blipFill>
        <p:spPr>
          <a:xfrm>
            <a:off x="11720661" y="9728372"/>
            <a:ext cx="9501554" cy="7450859"/>
          </a:xfrm>
          <a:prstGeom prst="rect">
            <a:avLst/>
          </a:prstGeom>
        </p:spPr>
      </p:pic>
      <p:pic>
        <p:nvPicPr>
          <p:cNvPr id="4103" name="Picture 4102" descr="05_pca_clusters_kmedoids_kmeans.png"/>
          <p:cNvPicPr>
            <a:picLocks noChangeAspect="1"/>
          </p:cNvPicPr>
          <p:nvPr/>
        </p:nvPicPr>
        <p:blipFill>
          <a:blip r:embed="rId3"/>
          <a:stretch>
            <a:fillRect/>
          </a:stretch>
        </p:blipFill>
        <p:spPr>
          <a:xfrm>
            <a:off x="11564480" y="19170327"/>
            <a:ext cx="9795691" cy="3550116"/>
          </a:xfrm>
          <a:prstGeom prst="rect">
            <a:avLst/>
          </a:prstGeom>
        </p:spPr>
      </p:pic>
      <p:pic>
        <p:nvPicPr>
          <p:cNvPr id="4104" name="Picture 4103" descr="08_anomalies_on_returns.png"/>
          <p:cNvPicPr>
            <a:picLocks noChangeAspect="1"/>
          </p:cNvPicPr>
          <p:nvPr/>
        </p:nvPicPr>
        <p:blipFill>
          <a:blip r:embed="rId8"/>
          <a:stretch>
            <a:fillRect/>
          </a:stretch>
        </p:blipFill>
        <p:spPr>
          <a:xfrm>
            <a:off x="22401443" y="17642446"/>
            <a:ext cx="9965607" cy="3154580"/>
          </a:xfrm>
          <a:prstGeom prst="rect">
            <a:avLst/>
          </a:prstGeom>
        </p:spPr>
      </p:pic>
      <p:pic>
        <p:nvPicPr>
          <p:cNvPr id="4105" name="Picture 4104" descr="04_silhouette_davies_bouldin_by_k.png"/>
          <p:cNvPicPr>
            <a:picLocks noChangeAspect="1"/>
          </p:cNvPicPr>
          <p:nvPr/>
        </p:nvPicPr>
        <p:blipFill>
          <a:blip r:embed="rId6"/>
          <a:stretch>
            <a:fillRect/>
          </a:stretch>
        </p:blipFill>
        <p:spPr>
          <a:xfrm>
            <a:off x="33408415" y="10820362"/>
            <a:ext cx="9841664" cy="3115346"/>
          </a:xfrm>
          <a:prstGeom prst="rect">
            <a:avLst/>
          </a:prstGeom>
        </p:spPr>
      </p:pic>
      <p:pic>
        <p:nvPicPr>
          <p:cNvPr id="4106" name="Picture 4105" descr="10_acf_pacf_differenced.png"/>
          <p:cNvPicPr>
            <a:picLocks noChangeAspect="1"/>
          </p:cNvPicPr>
          <p:nvPr/>
        </p:nvPicPr>
        <p:blipFill>
          <a:blip r:embed="rId7"/>
          <a:stretch>
            <a:fillRect/>
          </a:stretch>
        </p:blipFill>
        <p:spPr>
          <a:xfrm>
            <a:off x="34517843" y="16426199"/>
            <a:ext cx="7606960" cy="5248213"/>
          </a:xfrm>
          <a:prstGeom prst="rect">
            <a:avLst/>
          </a:prstGeom>
        </p:spPr>
      </p:pic>
    </p:spTree>
    <p:extLst>
      <p:ext uri="{BB962C8B-B14F-4D97-AF65-F5344CB8AC3E}">
        <p14:creationId xmlns:p14="http://schemas.microsoft.com/office/powerpoint/2010/main" val="3160527046"/>
      </p:ext>
    </p:extLst>
  </p:cSld>
  <p:clrMapOvr>
    <a:masterClrMapping/>
  </p:clrMapOvr>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3451</TotalTime>
  <Words>1587</Words>
  <Application>Microsoft Office PowerPoint</Application>
  <PresentationFormat>Custom</PresentationFormat>
  <Paragraphs>102</Paragraphs>
  <Slides>1</Slides>
  <Notes>1</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9" baseType="lpstr">
      <vt:lpstr>Arial</vt:lpstr>
      <vt:lpstr>Calibri</vt:lpstr>
      <vt:lpstr>Times New Roman</vt:lpstr>
      <vt:lpstr>Trebuchet MS</vt:lpstr>
      <vt:lpstr>36x48-Template-V2b</vt:lpstr>
      <vt:lpstr>1_Classic 3 Columns</vt:lpstr>
      <vt:lpstr>Classic - Wide Center</vt:lpstr>
      <vt:lpstr>Image</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Graham Glanville</cp:lastModifiedBy>
  <cp:revision>120</cp:revision>
  <dcterms:created xsi:type="dcterms:W3CDTF">2012-02-03T19:11:35Z</dcterms:created>
  <dcterms:modified xsi:type="dcterms:W3CDTF">2021-03-31T08:26:18Z</dcterms:modified>
</cp:coreProperties>
</file>